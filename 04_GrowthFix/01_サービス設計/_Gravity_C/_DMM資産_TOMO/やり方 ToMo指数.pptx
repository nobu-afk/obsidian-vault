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6fb79eac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6fb79eac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6fb79eace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6fb79eace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6fb79eace3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6fb79eace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6fb79eace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6fb79eace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6fb79eace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6fb79eace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6fb79eace3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6fb79eace3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6fb79eace3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6fb79eace3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6fb79eace3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6fb79eace3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6fb79eace3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6fb79eace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6fb79eace3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6fb79eace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6fb79eace3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6fb79eace3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6fb79eace3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6fb79eace3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6fb79eace3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6fb79eace3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6fb79eace3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6fb79eace3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6fb79eace3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6fb79eace3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6fb79eace3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6fb79eace3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6fb79eace3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6fb79eace3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6fb79eace3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6fb79eace3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6fb3ce2d4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6fb3ce2d4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6fb79eace3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6fb79eace3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6fb79eace3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6fb79eace3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ja"/>
              <a:t>ToMo指数</a:t>
            </a:r>
            <a:endParaRPr/>
          </a:p>
          <a:p>
            <a:pPr indent="0" lvl="0" marL="0" rtl="0" algn="ctr">
              <a:spcBef>
                <a:spcPts val="0"/>
              </a:spcBef>
              <a:spcAft>
                <a:spcPts val="0"/>
              </a:spcAft>
              <a:buNone/>
            </a:pPr>
            <a:r>
              <a:rPr lang="ja"/>
              <a:t>のやり方</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ja"/>
              <a:t>レコメンドチーム 内藤聡</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ToMo指数とは？</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ja" u="sng"/>
              <a:t>To</a:t>
            </a:r>
            <a:r>
              <a:rPr lang="ja"/>
              <a:t>tal </a:t>
            </a:r>
            <a:r>
              <a:rPr b="1" lang="ja" u="sng"/>
              <a:t>Mo</a:t>
            </a:r>
            <a:r>
              <a:rPr lang="ja"/>
              <a:t>tivation の略</a:t>
            </a:r>
            <a:endParaRPr/>
          </a:p>
          <a:p>
            <a:pPr indent="0" lvl="0" marL="0" rtl="0" algn="l">
              <a:spcBef>
                <a:spcPts val="1600"/>
              </a:spcBef>
              <a:spcAft>
                <a:spcPts val="0"/>
              </a:spcAft>
              <a:buNone/>
            </a:pPr>
            <a:r>
              <a:rPr b="1" lang="ja" sz="1400" u="sng">
                <a:solidFill>
                  <a:srgbClr val="172B4D"/>
                </a:solidFill>
                <a:highlight>
                  <a:srgbClr val="FFFFFF"/>
                </a:highlight>
              </a:rPr>
              <a:t>今の職に就業している理由や動機</a:t>
            </a:r>
            <a:r>
              <a:rPr lang="ja" sz="1400">
                <a:solidFill>
                  <a:srgbClr val="172B4D"/>
                </a:solidFill>
                <a:highlight>
                  <a:srgbClr val="FFFFFF"/>
                </a:highlight>
              </a:rPr>
              <a:t>を集め、分類と可視化をし、</a:t>
            </a:r>
            <a:br>
              <a:rPr lang="ja" sz="1400">
                <a:solidFill>
                  <a:srgbClr val="172B4D"/>
                </a:solidFill>
                <a:highlight>
                  <a:srgbClr val="FFFFFF"/>
                </a:highlight>
              </a:rPr>
            </a:br>
            <a:r>
              <a:rPr lang="ja" sz="1400">
                <a:solidFill>
                  <a:srgbClr val="172B4D"/>
                </a:solidFill>
                <a:highlight>
                  <a:srgbClr val="FFFFFF"/>
                </a:highlight>
              </a:rPr>
              <a:t>なぜ今こうなっているのか、を考えるきっかけにしていきます。</a:t>
            </a:r>
            <a:endParaRPr sz="1400">
              <a:solidFill>
                <a:srgbClr val="172B4D"/>
              </a:solidFill>
              <a:highlight>
                <a:srgbClr val="FFFFFF"/>
              </a:highlight>
            </a:endParaRPr>
          </a:p>
          <a:p>
            <a:pPr indent="0" lvl="0" marL="0" rtl="0" algn="l">
              <a:spcBef>
                <a:spcPts val="1600"/>
              </a:spcBef>
              <a:spcAft>
                <a:spcPts val="0"/>
              </a:spcAft>
              <a:buNone/>
            </a:pPr>
            <a:r>
              <a:t/>
            </a:r>
            <a:endParaRPr sz="1400">
              <a:solidFill>
                <a:srgbClr val="172B4D"/>
              </a:solidFill>
              <a:highlight>
                <a:srgbClr val="FFFFFF"/>
              </a:highlight>
            </a:endParaRPr>
          </a:p>
          <a:p>
            <a:pPr indent="0" lvl="0" marL="0" rtl="0" algn="l">
              <a:spcBef>
                <a:spcPts val="1600"/>
              </a:spcBef>
              <a:spcAft>
                <a:spcPts val="0"/>
              </a:spcAft>
              <a:buNone/>
            </a:pPr>
            <a:r>
              <a:rPr lang="ja" sz="1400">
                <a:solidFill>
                  <a:srgbClr val="172B4D"/>
                </a:solidFill>
                <a:highlight>
                  <a:srgbClr val="FFFFFF"/>
                </a:highlight>
              </a:rPr>
              <a:t>マッキンゼーのおっさん？おばさん？二人が考えたらしいです。</a:t>
            </a:r>
            <a:endParaRPr sz="1400">
              <a:solidFill>
                <a:srgbClr val="172B4D"/>
              </a:solidFill>
              <a:highlight>
                <a:srgbClr val="FFFFFF"/>
              </a:highlight>
            </a:endParaRPr>
          </a:p>
          <a:p>
            <a:pPr indent="0" lvl="0" marL="0" rtl="0" algn="l">
              <a:spcBef>
                <a:spcPts val="1600"/>
              </a:spcBef>
              <a:spcAft>
                <a:spcPts val="0"/>
              </a:spcAft>
              <a:buNone/>
            </a:pPr>
            <a:r>
              <a:t/>
            </a:r>
            <a:endParaRPr sz="1400">
              <a:solidFill>
                <a:srgbClr val="172B4D"/>
              </a:solidFill>
              <a:highlight>
                <a:srgbClr val="FFFFFF"/>
              </a:highlight>
            </a:endParaRPr>
          </a:p>
          <a:p>
            <a:pPr indent="0" lvl="0" marL="0" rtl="0" algn="l">
              <a:spcBef>
                <a:spcPts val="1600"/>
              </a:spcBef>
              <a:spcAft>
                <a:spcPts val="0"/>
              </a:spcAft>
              <a:buNone/>
            </a:pPr>
            <a:r>
              <a:rPr lang="ja" sz="1400">
                <a:solidFill>
                  <a:srgbClr val="172B4D"/>
                </a:solidFill>
                <a:highlight>
                  <a:srgbClr val="FFFFFF"/>
                </a:highlight>
              </a:rPr>
              <a:t>今回、いつものふりかえりに近づけるため、若干公式な手順を手直ししています。</a:t>
            </a:r>
            <a:endParaRPr sz="1400">
              <a:solidFill>
                <a:srgbClr val="172B4D"/>
              </a:solidFill>
              <a:highlight>
                <a:srgbClr val="FFFFFF"/>
              </a:highlight>
            </a:endParaRPr>
          </a:p>
          <a:p>
            <a:pPr indent="0" lvl="0" marL="0" rtl="0" algn="l">
              <a:spcBef>
                <a:spcPts val="1600"/>
              </a:spcBef>
              <a:spcAft>
                <a:spcPts val="1600"/>
              </a:spcAft>
              <a:buNone/>
            </a:pPr>
            <a:r>
              <a:t/>
            </a:r>
            <a:endParaRPr sz="1400">
              <a:solidFill>
                <a:srgbClr val="172B4D"/>
              </a:solidFill>
              <a:highlight>
                <a:srgbClr val="FFFFFF"/>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ja"/>
              <a:t>大まかな流れ</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大まかな流れ</a:t>
            </a:r>
            <a:endParaRPr/>
          </a:p>
        </p:txBody>
      </p:sp>
      <p:sp>
        <p:nvSpPr>
          <p:cNvPr id="72" name="Google Shape;72;p16"/>
          <p:cNvSpPr/>
          <p:nvPr/>
        </p:nvSpPr>
        <p:spPr>
          <a:xfrm>
            <a:off x="131875" y="1947225"/>
            <a:ext cx="1720200" cy="744900"/>
          </a:xfrm>
          <a:prstGeom prst="homePlate">
            <a:avLst>
              <a:gd fmla="val 3747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 sz="2400"/>
              <a:t>ToMo指数の測定</a:t>
            </a:r>
            <a:endParaRPr sz="2400"/>
          </a:p>
        </p:txBody>
      </p:sp>
      <p:sp>
        <p:nvSpPr>
          <p:cNvPr id="73" name="Google Shape;73;p16"/>
          <p:cNvSpPr/>
          <p:nvPr/>
        </p:nvSpPr>
        <p:spPr>
          <a:xfrm>
            <a:off x="1954045" y="1947225"/>
            <a:ext cx="1720200" cy="744900"/>
          </a:xfrm>
          <a:prstGeom prst="homePlate">
            <a:avLst>
              <a:gd fmla="val 3747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 sz="2400"/>
              <a:t>測定結果の分析</a:t>
            </a:r>
            <a:endParaRPr sz="2400"/>
          </a:p>
        </p:txBody>
      </p:sp>
      <p:sp>
        <p:nvSpPr>
          <p:cNvPr id="74" name="Google Shape;74;p16"/>
          <p:cNvSpPr/>
          <p:nvPr/>
        </p:nvSpPr>
        <p:spPr>
          <a:xfrm>
            <a:off x="3755321" y="1947225"/>
            <a:ext cx="1720200" cy="744900"/>
          </a:xfrm>
          <a:prstGeom prst="homePlate">
            <a:avLst>
              <a:gd fmla="val 3747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 sz="2400"/>
              <a:t>改善の鍵の探索</a:t>
            </a:r>
            <a:endParaRPr sz="2400"/>
          </a:p>
        </p:txBody>
      </p:sp>
      <p:sp>
        <p:nvSpPr>
          <p:cNvPr id="75" name="Google Shape;75;p16"/>
          <p:cNvSpPr/>
          <p:nvPr/>
        </p:nvSpPr>
        <p:spPr>
          <a:xfrm>
            <a:off x="5556597" y="1947225"/>
            <a:ext cx="1720200" cy="744900"/>
          </a:xfrm>
          <a:prstGeom prst="homePlate">
            <a:avLst>
              <a:gd fmla="val 3747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 sz="2400"/>
              <a:t>ゴールを決める</a:t>
            </a:r>
            <a:endParaRPr sz="2400"/>
          </a:p>
        </p:txBody>
      </p:sp>
      <p:sp>
        <p:nvSpPr>
          <p:cNvPr id="76" name="Google Shape;76;p16"/>
          <p:cNvSpPr/>
          <p:nvPr/>
        </p:nvSpPr>
        <p:spPr>
          <a:xfrm>
            <a:off x="7357872" y="1947225"/>
            <a:ext cx="1720200" cy="744900"/>
          </a:xfrm>
          <a:prstGeom prst="homePlate">
            <a:avLst>
              <a:gd fmla="val 3747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 sz="2400"/>
              <a:t>実行する</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大まかな流れ</a:t>
            </a:r>
            <a:endParaRPr/>
          </a:p>
        </p:txBody>
      </p:sp>
      <p:sp>
        <p:nvSpPr>
          <p:cNvPr id="82" name="Google Shape;82;p17"/>
          <p:cNvSpPr/>
          <p:nvPr/>
        </p:nvSpPr>
        <p:spPr>
          <a:xfrm>
            <a:off x="131875" y="1947225"/>
            <a:ext cx="1720200" cy="744900"/>
          </a:xfrm>
          <a:prstGeom prst="homePlate">
            <a:avLst>
              <a:gd fmla="val 37477"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 sz="2400"/>
              <a:t>ToMo指数の測定</a:t>
            </a:r>
            <a:endParaRPr sz="2400"/>
          </a:p>
        </p:txBody>
      </p:sp>
      <p:sp>
        <p:nvSpPr>
          <p:cNvPr id="83" name="Google Shape;83;p17"/>
          <p:cNvSpPr/>
          <p:nvPr/>
        </p:nvSpPr>
        <p:spPr>
          <a:xfrm>
            <a:off x="1954045" y="1947225"/>
            <a:ext cx="1720200" cy="744900"/>
          </a:xfrm>
          <a:prstGeom prst="homePlate">
            <a:avLst>
              <a:gd fmla="val 37477"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 sz="2400"/>
              <a:t>測定結果の分析</a:t>
            </a:r>
            <a:endParaRPr sz="2400"/>
          </a:p>
        </p:txBody>
      </p:sp>
      <p:sp>
        <p:nvSpPr>
          <p:cNvPr id="84" name="Google Shape;84;p17"/>
          <p:cNvSpPr/>
          <p:nvPr/>
        </p:nvSpPr>
        <p:spPr>
          <a:xfrm>
            <a:off x="3755321" y="1947225"/>
            <a:ext cx="1720200" cy="744900"/>
          </a:xfrm>
          <a:prstGeom prst="homePlate">
            <a:avLst>
              <a:gd fmla="val 37477"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 sz="2400"/>
              <a:t>改善の鍵の探索</a:t>
            </a:r>
            <a:endParaRPr sz="2400"/>
          </a:p>
        </p:txBody>
      </p:sp>
      <p:sp>
        <p:nvSpPr>
          <p:cNvPr id="85" name="Google Shape;85;p17"/>
          <p:cNvSpPr/>
          <p:nvPr/>
        </p:nvSpPr>
        <p:spPr>
          <a:xfrm>
            <a:off x="5556597" y="1947225"/>
            <a:ext cx="1720200" cy="744900"/>
          </a:xfrm>
          <a:prstGeom prst="homePlate">
            <a:avLst>
              <a:gd fmla="val 37477"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 sz="2400"/>
              <a:t>ゴールを決める</a:t>
            </a:r>
            <a:endParaRPr sz="2400"/>
          </a:p>
        </p:txBody>
      </p:sp>
      <p:sp>
        <p:nvSpPr>
          <p:cNvPr id="86" name="Google Shape;86;p17"/>
          <p:cNvSpPr/>
          <p:nvPr/>
        </p:nvSpPr>
        <p:spPr>
          <a:xfrm>
            <a:off x="7357872" y="1947225"/>
            <a:ext cx="1720200" cy="744900"/>
          </a:xfrm>
          <a:prstGeom prst="homePlate">
            <a:avLst>
              <a:gd fmla="val 3747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 sz="2400"/>
              <a:t>実行する</a:t>
            </a:r>
            <a:endParaRPr sz="2400"/>
          </a:p>
        </p:txBody>
      </p:sp>
      <p:sp>
        <p:nvSpPr>
          <p:cNvPr id="87" name="Google Shape;87;p17"/>
          <p:cNvSpPr/>
          <p:nvPr/>
        </p:nvSpPr>
        <p:spPr>
          <a:xfrm>
            <a:off x="131875" y="2759575"/>
            <a:ext cx="7144800" cy="744900"/>
          </a:xfrm>
          <a:prstGeom prst="leftRightArrow">
            <a:avLst>
              <a:gd fmla="val 50000" name="adj1"/>
              <a:gd fmla="val 50000" name="adj2"/>
            </a:avLst>
          </a:prstGeom>
          <a:solidFill>
            <a:srgbClr val="FFFFFF"/>
          </a:solid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2400"/>
              <a:t>今日の範囲</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ja"/>
              <a:t>ToMo指数の測定</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ToMo指数の測定</a:t>
            </a:r>
            <a:endParaRPr/>
          </a:p>
        </p:txBody>
      </p:sp>
      <p:sp>
        <p:nvSpPr>
          <p:cNvPr id="98" name="Google Shape;98;p1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sz="1800"/>
              <a:t>Google Form でやります</a:t>
            </a:r>
            <a:endParaRPr sz="1800"/>
          </a:p>
          <a:p>
            <a:pPr indent="0" lvl="0" marL="0" rtl="0" algn="l">
              <a:spcBef>
                <a:spcPts val="1600"/>
              </a:spcBef>
              <a:spcAft>
                <a:spcPts val="0"/>
              </a:spcAft>
              <a:buNone/>
            </a:pPr>
            <a:r>
              <a:rPr lang="ja" sz="1800"/>
              <a:t>匿名で設問は</a:t>
            </a:r>
            <a:r>
              <a:rPr lang="ja" sz="1800"/>
              <a:t>右記</a:t>
            </a:r>
            <a:r>
              <a:rPr b="1" lang="ja" sz="1800"/>
              <a:t>６つ</a:t>
            </a:r>
            <a:r>
              <a:rPr lang="ja" sz="1800"/>
              <a:t>＋α</a:t>
            </a:r>
            <a:endParaRPr sz="1800"/>
          </a:p>
          <a:p>
            <a:pPr indent="0" lvl="0" marL="0" rtl="0" algn="l">
              <a:spcBef>
                <a:spcPts val="1600"/>
              </a:spcBef>
              <a:spcAft>
                <a:spcPts val="0"/>
              </a:spcAft>
              <a:buNone/>
            </a:pPr>
            <a:r>
              <a:rPr lang="ja" sz="1800"/>
              <a:t>それぞれ７段階で評価</a:t>
            </a:r>
            <a:endParaRPr sz="1800"/>
          </a:p>
          <a:p>
            <a:pPr indent="0" lvl="0" marL="0" rtl="0" algn="l">
              <a:spcBef>
                <a:spcPts val="1600"/>
              </a:spcBef>
              <a:spcAft>
                <a:spcPts val="0"/>
              </a:spcAft>
              <a:buNone/>
            </a:pPr>
            <a:r>
              <a:t/>
            </a:r>
            <a:endParaRPr sz="1800"/>
          </a:p>
          <a:p>
            <a:pPr indent="0" lvl="0" marL="0" rtl="0" algn="l">
              <a:spcBef>
                <a:spcPts val="1600"/>
              </a:spcBef>
              <a:spcAft>
                <a:spcPts val="0"/>
              </a:spcAft>
              <a:buNone/>
            </a:pPr>
            <a:r>
              <a:rPr lang="ja" sz="1800"/>
              <a:t>集計後、</a:t>
            </a:r>
            <a:r>
              <a:rPr lang="ja" sz="1800"/>
              <a:t>結果は</a:t>
            </a:r>
            <a:r>
              <a:rPr b="1" lang="ja" sz="1800"/>
              <a:t>即発表</a:t>
            </a:r>
            <a:r>
              <a:rPr lang="ja" sz="1800"/>
              <a:t>します</a:t>
            </a:r>
            <a:endParaRPr sz="1800"/>
          </a:p>
          <a:p>
            <a:pPr indent="0" lvl="0" marL="0" rtl="0" algn="l">
              <a:spcBef>
                <a:spcPts val="1600"/>
              </a:spcBef>
              <a:spcAft>
                <a:spcPts val="1600"/>
              </a:spcAft>
              <a:buNone/>
            </a:pPr>
            <a:r>
              <a:rPr lang="ja" sz="1800"/>
              <a:t>メンバー相互で、各自のToMo分布がどうなっているか確認してください</a:t>
            </a:r>
            <a:endParaRPr sz="1800"/>
          </a:p>
        </p:txBody>
      </p:sp>
      <p:sp>
        <p:nvSpPr>
          <p:cNvPr id="99" name="Google Shape;99;p1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E69138"/>
              </a:buClr>
              <a:buSzPts val="2400"/>
              <a:buChar char="●"/>
            </a:pPr>
            <a:r>
              <a:rPr b="1" lang="ja" sz="2400">
                <a:solidFill>
                  <a:srgbClr val="E69138"/>
                </a:solidFill>
              </a:rPr>
              <a:t>楽しさ</a:t>
            </a:r>
            <a:endParaRPr b="1" sz="2400">
              <a:solidFill>
                <a:srgbClr val="E69138"/>
              </a:solidFill>
            </a:endParaRPr>
          </a:p>
          <a:p>
            <a:pPr indent="-381000" lvl="0" marL="457200" rtl="0" algn="l">
              <a:spcBef>
                <a:spcPts val="0"/>
              </a:spcBef>
              <a:spcAft>
                <a:spcPts val="0"/>
              </a:spcAft>
              <a:buClr>
                <a:srgbClr val="E69138"/>
              </a:buClr>
              <a:buSzPts val="2400"/>
              <a:buChar char="●"/>
            </a:pPr>
            <a:r>
              <a:rPr b="1" lang="ja" sz="2400">
                <a:solidFill>
                  <a:srgbClr val="E69138"/>
                </a:solidFill>
              </a:rPr>
              <a:t>目的</a:t>
            </a:r>
            <a:endParaRPr b="1" sz="2400">
              <a:solidFill>
                <a:srgbClr val="E69138"/>
              </a:solidFill>
            </a:endParaRPr>
          </a:p>
          <a:p>
            <a:pPr indent="-381000" lvl="0" marL="457200" rtl="0" algn="l">
              <a:spcBef>
                <a:spcPts val="0"/>
              </a:spcBef>
              <a:spcAft>
                <a:spcPts val="0"/>
              </a:spcAft>
              <a:buClr>
                <a:srgbClr val="E69138"/>
              </a:buClr>
              <a:buSzPts val="2400"/>
              <a:buChar char="●"/>
            </a:pPr>
            <a:r>
              <a:rPr b="1" lang="ja" sz="2400">
                <a:solidFill>
                  <a:srgbClr val="E69138"/>
                </a:solidFill>
              </a:rPr>
              <a:t>可能性</a:t>
            </a:r>
            <a:endParaRPr b="1" sz="2400">
              <a:solidFill>
                <a:srgbClr val="E69138"/>
              </a:solidFill>
            </a:endParaRPr>
          </a:p>
          <a:p>
            <a:pPr indent="-381000" lvl="0" marL="457200" rtl="0" algn="l">
              <a:spcBef>
                <a:spcPts val="0"/>
              </a:spcBef>
              <a:spcAft>
                <a:spcPts val="0"/>
              </a:spcAft>
              <a:buClr>
                <a:srgbClr val="3C78D8"/>
              </a:buClr>
              <a:buSzPts val="2400"/>
              <a:buChar char="●"/>
            </a:pPr>
            <a:r>
              <a:rPr b="1" lang="ja" sz="2400">
                <a:solidFill>
                  <a:srgbClr val="3C78D8"/>
                </a:solidFill>
              </a:rPr>
              <a:t>感情的圧力</a:t>
            </a:r>
            <a:endParaRPr b="1" sz="2400">
              <a:solidFill>
                <a:srgbClr val="3C78D8"/>
              </a:solidFill>
            </a:endParaRPr>
          </a:p>
          <a:p>
            <a:pPr indent="-381000" lvl="0" marL="457200" rtl="0" algn="l">
              <a:spcBef>
                <a:spcPts val="0"/>
              </a:spcBef>
              <a:spcAft>
                <a:spcPts val="0"/>
              </a:spcAft>
              <a:buClr>
                <a:srgbClr val="3C78D8"/>
              </a:buClr>
              <a:buSzPts val="2400"/>
              <a:buChar char="●"/>
            </a:pPr>
            <a:r>
              <a:rPr b="1" lang="ja" sz="2400">
                <a:solidFill>
                  <a:srgbClr val="3C78D8"/>
                </a:solidFill>
              </a:rPr>
              <a:t>経済的圧力</a:t>
            </a:r>
            <a:endParaRPr b="1" sz="2400">
              <a:solidFill>
                <a:srgbClr val="3C78D8"/>
              </a:solidFill>
            </a:endParaRPr>
          </a:p>
          <a:p>
            <a:pPr indent="-381000" lvl="0" marL="457200" rtl="0" algn="l">
              <a:spcBef>
                <a:spcPts val="0"/>
              </a:spcBef>
              <a:spcAft>
                <a:spcPts val="0"/>
              </a:spcAft>
              <a:buClr>
                <a:srgbClr val="3C78D8"/>
              </a:buClr>
              <a:buSzPts val="2400"/>
              <a:buChar char="●"/>
            </a:pPr>
            <a:r>
              <a:rPr b="1" lang="ja" sz="2400">
                <a:solidFill>
                  <a:srgbClr val="3C78D8"/>
                </a:solidFill>
              </a:rPr>
              <a:t>惰性</a:t>
            </a:r>
            <a:endParaRPr b="1" sz="2400">
              <a:solidFill>
                <a:srgbClr val="3C78D8"/>
              </a:solidFill>
            </a:endParaRPr>
          </a:p>
        </p:txBody>
      </p:sp>
      <p:sp>
        <p:nvSpPr>
          <p:cNvPr id="100" name="Google Shape;100;p19"/>
          <p:cNvSpPr/>
          <p:nvPr/>
        </p:nvSpPr>
        <p:spPr>
          <a:xfrm>
            <a:off x="6966600" y="1245625"/>
            <a:ext cx="147300" cy="1086000"/>
          </a:xfrm>
          <a:prstGeom prst="rightBrace">
            <a:avLst>
              <a:gd fmla="val 8333"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9"/>
          <p:cNvSpPr txBox="1"/>
          <p:nvPr/>
        </p:nvSpPr>
        <p:spPr>
          <a:xfrm>
            <a:off x="7253650" y="1527925"/>
            <a:ext cx="1807500" cy="5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2400">
                <a:solidFill>
                  <a:srgbClr val="E69138"/>
                </a:solidFill>
              </a:rPr>
              <a:t>直接的</a:t>
            </a:r>
            <a:r>
              <a:rPr lang="ja" sz="2400"/>
              <a:t>動機</a:t>
            </a:r>
            <a:endParaRPr sz="2400"/>
          </a:p>
        </p:txBody>
      </p:sp>
      <p:sp>
        <p:nvSpPr>
          <p:cNvPr id="102" name="Google Shape;102;p19"/>
          <p:cNvSpPr/>
          <p:nvPr/>
        </p:nvSpPr>
        <p:spPr>
          <a:xfrm>
            <a:off x="6966600" y="2541025"/>
            <a:ext cx="147300" cy="1086000"/>
          </a:xfrm>
          <a:prstGeom prst="rightBrace">
            <a:avLst>
              <a:gd fmla="val 8333"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9"/>
          <p:cNvSpPr txBox="1"/>
          <p:nvPr/>
        </p:nvSpPr>
        <p:spPr>
          <a:xfrm>
            <a:off x="7253650" y="2823325"/>
            <a:ext cx="1807500" cy="5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2400">
                <a:solidFill>
                  <a:srgbClr val="3C78D8"/>
                </a:solidFill>
              </a:rPr>
              <a:t>間接</a:t>
            </a:r>
            <a:r>
              <a:rPr lang="ja" sz="2400">
                <a:solidFill>
                  <a:srgbClr val="3C78D8"/>
                </a:solidFill>
              </a:rPr>
              <a:t>的</a:t>
            </a:r>
            <a:r>
              <a:rPr lang="ja" sz="2400"/>
              <a:t>動機</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ja"/>
              <a:t>測定</a:t>
            </a:r>
            <a:r>
              <a:rPr lang="ja"/>
              <a:t>結果の分析</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ja"/>
              <a:t>の前に</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測定結果の分析、の前に</a:t>
            </a:r>
            <a:endParaRPr/>
          </a:p>
        </p:txBody>
      </p:sp>
      <p:sp>
        <p:nvSpPr>
          <p:cNvPr id="119" name="Google Shape;119;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先人曰く、</a:t>
            </a:r>
            <a:endParaRPr/>
          </a:p>
          <a:p>
            <a:pPr indent="0" lvl="0" marL="0" rtl="0" algn="l">
              <a:spcBef>
                <a:spcPts val="1600"/>
              </a:spcBef>
              <a:spcAft>
                <a:spcPts val="0"/>
              </a:spcAft>
              <a:buNone/>
            </a:pPr>
            <a:r>
              <a:t/>
            </a:r>
            <a:endParaRPr/>
          </a:p>
          <a:p>
            <a:pPr indent="0" lvl="0" marL="0" rtl="0" algn="l">
              <a:spcBef>
                <a:spcPts val="1600"/>
              </a:spcBef>
              <a:spcAft>
                <a:spcPts val="0"/>
              </a:spcAft>
              <a:buClr>
                <a:schemeClr val="dk1"/>
              </a:buClr>
              <a:buSzPts val="1100"/>
              <a:buFont typeface="Arial"/>
              <a:buNone/>
            </a:pPr>
            <a:r>
              <a:rPr b="1" lang="ja" sz="1350">
                <a:solidFill>
                  <a:srgbClr val="222222"/>
                </a:solidFill>
                <a:highlight>
                  <a:srgbClr val="FFFFFF"/>
                </a:highlight>
              </a:rPr>
              <a:t>１：すでに</a:t>
            </a:r>
            <a:r>
              <a:rPr b="1" lang="ja" sz="1350">
                <a:solidFill>
                  <a:srgbClr val="6AA84F"/>
                </a:solidFill>
                <a:highlight>
                  <a:srgbClr val="FFFFFF"/>
                </a:highlight>
              </a:rPr>
              <a:t>出来ているプラン</a:t>
            </a:r>
            <a:r>
              <a:rPr b="1" lang="ja" sz="1350">
                <a:solidFill>
                  <a:srgbClr val="222222"/>
                </a:solidFill>
                <a:highlight>
                  <a:srgbClr val="FFFFFF"/>
                </a:highlight>
              </a:rPr>
              <a:t>を実行するだけなら、【</a:t>
            </a:r>
            <a:r>
              <a:rPr b="1" lang="ja" sz="1350">
                <a:solidFill>
                  <a:srgbClr val="3C78D8"/>
                </a:solidFill>
                <a:highlight>
                  <a:srgbClr val="FFFFFF"/>
                </a:highlight>
              </a:rPr>
              <a:t>間接的動機</a:t>
            </a:r>
            <a:r>
              <a:rPr b="1" lang="ja" sz="1350">
                <a:solidFill>
                  <a:srgbClr val="222222"/>
                </a:solidFill>
                <a:highlight>
                  <a:srgbClr val="FFFFFF"/>
                </a:highlight>
              </a:rPr>
              <a:t>】であっても、【</a:t>
            </a:r>
            <a:r>
              <a:rPr b="1" lang="ja" sz="1350">
                <a:solidFill>
                  <a:srgbClr val="E69138"/>
                </a:solidFill>
                <a:highlight>
                  <a:srgbClr val="FFFFFF"/>
                </a:highlight>
              </a:rPr>
              <a:t>直接的動機</a:t>
            </a:r>
            <a:r>
              <a:rPr b="1" lang="ja" sz="1350">
                <a:solidFill>
                  <a:srgbClr val="222222"/>
                </a:solidFill>
                <a:highlight>
                  <a:srgbClr val="FFFFFF"/>
                </a:highlight>
              </a:rPr>
              <a:t>】であっても、成果はさほど変わらない</a:t>
            </a:r>
            <a:endParaRPr b="1" sz="1350">
              <a:solidFill>
                <a:srgbClr val="222222"/>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None/>
            </a:pPr>
            <a:r>
              <a:rPr b="1" lang="ja" sz="1350">
                <a:solidFill>
                  <a:srgbClr val="222222"/>
                </a:solidFill>
                <a:highlight>
                  <a:srgbClr val="FFFFFF"/>
                </a:highlight>
              </a:rPr>
              <a:t>２：</a:t>
            </a:r>
            <a:r>
              <a:rPr b="1" lang="ja" sz="1350">
                <a:solidFill>
                  <a:srgbClr val="6AA84F"/>
                </a:solidFill>
                <a:highlight>
                  <a:srgbClr val="FFFFFF"/>
                </a:highlight>
              </a:rPr>
              <a:t>計画外</a:t>
            </a:r>
            <a:r>
              <a:rPr b="1" lang="ja" sz="1350">
                <a:solidFill>
                  <a:srgbClr val="222222"/>
                </a:solidFill>
                <a:highlight>
                  <a:srgbClr val="FFFFFF"/>
                </a:highlight>
              </a:rPr>
              <a:t>のことに柔軟に対処し、</a:t>
            </a:r>
            <a:r>
              <a:rPr b="1" lang="ja" sz="1350">
                <a:solidFill>
                  <a:srgbClr val="6AA84F"/>
                </a:solidFill>
                <a:highlight>
                  <a:srgbClr val="FFFFFF"/>
                </a:highlight>
              </a:rPr>
              <a:t>創造性</a:t>
            </a:r>
            <a:r>
              <a:rPr b="1" lang="ja" sz="1350">
                <a:solidFill>
                  <a:srgbClr val="222222"/>
                </a:solidFill>
                <a:highlight>
                  <a:srgbClr val="FFFFFF"/>
                </a:highlight>
              </a:rPr>
              <a:t>の発揮が必要とされる場面では、【</a:t>
            </a:r>
            <a:r>
              <a:rPr b="1" lang="ja" sz="1350">
                <a:solidFill>
                  <a:srgbClr val="E69138"/>
                </a:solidFill>
                <a:highlight>
                  <a:srgbClr val="FFFFFF"/>
                </a:highlight>
              </a:rPr>
              <a:t>直接的動機</a:t>
            </a:r>
            <a:r>
              <a:rPr b="1" lang="ja" sz="1350">
                <a:solidFill>
                  <a:srgbClr val="222222"/>
                </a:solidFill>
                <a:highlight>
                  <a:srgbClr val="FFFFFF"/>
                </a:highlight>
              </a:rPr>
              <a:t>】の方が、はるかに高い成果を生み出す</a:t>
            </a:r>
            <a:endParaRPr b="1" sz="1350">
              <a:solidFill>
                <a:srgbClr val="222222"/>
              </a:solidFill>
              <a:highlight>
                <a:srgbClr val="FFFFFF"/>
              </a:highlight>
            </a:endParaRPr>
          </a:p>
          <a:p>
            <a:pPr indent="0" lvl="0" marL="0" rtl="0" algn="l">
              <a:spcBef>
                <a:spcPts val="1600"/>
              </a:spcBef>
              <a:spcAft>
                <a:spcPts val="0"/>
              </a:spcAft>
              <a:buNone/>
            </a:pPr>
            <a:r>
              <a:t/>
            </a:r>
            <a:endParaRPr b="1" sz="1350">
              <a:solidFill>
                <a:srgbClr val="222222"/>
              </a:solidFill>
              <a:highlight>
                <a:srgbClr val="FFFFFF"/>
              </a:highlight>
            </a:endParaRPr>
          </a:p>
          <a:p>
            <a:pPr indent="0" lvl="0" marL="0" rtl="0" algn="l">
              <a:spcBef>
                <a:spcPts val="1600"/>
              </a:spcBef>
              <a:spcAft>
                <a:spcPts val="1600"/>
              </a:spcAft>
              <a:buClr>
                <a:schemeClr val="dk1"/>
              </a:buClr>
              <a:buSzPts val="1100"/>
              <a:buFont typeface="Arial"/>
              <a:buNone/>
            </a:pPr>
            <a:r>
              <a:rPr lang="ja"/>
              <a:t>とのこと</a:t>
            </a:r>
            <a:endParaRPr b="1" sz="1350">
              <a:solidFill>
                <a:srgbClr val="222222"/>
              </a:solidFill>
              <a:highlight>
                <a:srgbClr val="FFFFFF"/>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測定</a:t>
            </a:r>
            <a:r>
              <a:rPr lang="ja"/>
              <a:t>結果の分析、の前に</a:t>
            </a:r>
            <a:endParaRPr/>
          </a:p>
        </p:txBody>
      </p:sp>
      <p:sp>
        <p:nvSpPr>
          <p:cNvPr id="125" name="Google Shape;125;p2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ja" sz="1800"/>
              <a:t>「</a:t>
            </a:r>
            <a:r>
              <a:rPr b="1" lang="ja" sz="1800"/>
              <a:t>非難バイアス」</a:t>
            </a:r>
            <a:endParaRPr b="1" sz="1800"/>
          </a:p>
        </p:txBody>
      </p:sp>
      <p:sp>
        <p:nvSpPr>
          <p:cNvPr id="126" name="Google Shape;126;p23"/>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勘違いによる</a:t>
            </a:r>
            <a:r>
              <a:rPr lang="ja"/>
              <a:t>「</a:t>
            </a:r>
            <a:r>
              <a:rPr lang="ja"/>
              <a:t>あるある」な</a:t>
            </a:r>
            <a:r>
              <a:rPr b="1" lang="ja" u="sng"/>
              <a:t>負のスパイラル</a:t>
            </a:r>
            <a:r>
              <a:rPr lang="ja"/>
              <a:t>のこと</a:t>
            </a:r>
            <a:endParaRPr/>
          </a:p>
          <a:p>
            <a:pPr indent="0" lvl="0" marL="0" rtl="0" algn="l">
              <a:spcBef>
                <a:spcPts val="1600"/>
              </a:spcBef>
              <a:spcAft>
                <a:spcPts val="0"/>
              </a:spcAft>
              <a:buNone/>
            </a:pPr>
            <a:r>
              <a:rPr b="1" lang="ja" u="sng"/>
              <a:t>「自信のあるリーダーほどメンバーの創造性を信頼せず、悪循環を助長する」</a:t>
            </a:r>
            <a:endParaRPr b="1" u="sng"/>
          </a:p>
          <a:p>
            <a:pPr indent="0" lvl="0" marL="0" rtl="0" algn="l">
              <a:spcBef>
                <a:spcPts val="1600"/>
              </a:spcBef>
              <a:spcAft>
                <a:spcPts val="0"/>
              </a:spcAft>
              <a:buNone/>
            </a:pPr>
            <a:r>
              <a:rPr lang="ja"/>
              <a:t>業績の低迷を解消しようと、管理者は目標の数字管理強化・進捗確認強化を始めがちですが、これらはメンバーにとってプレッシャーとなり、感情的圧力を感じ始め、</a:t>
            </a:r>
            <a:r>
              <a:rPr b="1" lang="ja">
                <a:solidFill>
                  <a:srgbClr val="3C78D8"/>
                </a:solidFill>
              </a:rPr>
              <a:t>間接的動機</a:t>
            </a:r>
            <a:r>
              <a:rPr lang="ja"/>
              <a:t>の割合が増していきます</a:t>
            </a:r>
            <a:endParaRPr/>
          </a:p>
          <a:p>
            <a:pPr indent="0" lvl="0" marL="0" rtl="0" algn="l">
              <a:spcBef>
                <a:spcPts val="1600"/>
              </a:spcBef>
              <a:spcAft>
                <a:spcPts val="0"/>
              </a:spcAft>
              <a:buNone/>
            </a:pPr>
            <a:r>
              <a:rPr lang="ja"/>
              <a:t>心理的に追い詰められた緊張状態からは柔軟で創造的な発想は出にくくなり、管理者はますます目標強化・進捗強化へ突き進むことに</a:t>
            </a:r>
            <a:endParaRPr/>
          </a:p>
          <a:p>
            <a:pPr indent="0" lvl="0" marL="0" rtl="0" algn="l">
              <a:spcBef>
                <a:spcPts val="1600"/>
              </a:spcBef>
              <a:spcAft>
                <a:spcPts val="1600"/>
              </a:spcAft>
              <a:buNone/>
            </a:pPr>
            <a:r>
              <a:t/>
            </a:r>
            <a:endParaRPr/>
          </a:p>
        </p:txBody>
      </p:sp>
      <p:grpSp>
        <p:nvGrpSpPr>
          <p:cNvPr id="127" name="Google Shape;127;p23"/>
          <p:cNvGrpSpPr/>
          <p:nvPr/>
        </p:nvGrpSpPr>
        <p:grpSpPr>
          <a:xfrm>
            <a:off x="528775" y="1851825"/>
            <a:ext cx="3565750" cy="2192675"/>
            <a:chOff x="528775" y="1851825"/>
            <a:chExt cx="3565750" cy="2192675"/>
          </a:xfrm>
        </p:grpSpPr>
        <p:sp>
          <p:nvSpPr>
            <p:cNvPr id="128" name="Google Shape;128;p23"/>
            <p:cNvSpPr/>
            <p:nvPr/>
          </p:nvSpPr>
          <p:spPr>
            <a:xfrm>
              <a:off x="1547525" y="1851825"/>
              <a:ext cx="1466400" cy="488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業績の低迷</a:t>
              </a:r>
              <a:endParaRPr/>
            </a:p>
          </p:txBody>
        </p:sp>
        <p:sp>
          <p:nvSpPr>
            <p:cNvPr id="129" name="Google Shape;129;p23"/>
            <p:cNvSpPr/>
            <p:nvPr/>
          </p:nvSpPr>
          <p:spPr>
            <a:xfrm>
              <a:off x="1547525" y="3555800"/>
              <a:ext cx="1466400" cy="488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3C78D8"/>
                  </a:solidFill>
                </a:rPr>
                <a:t>間接的動機</a:t>
              </a:r>
              <a:endParaRPr b="1">
                <a:solidFill>
                  <a:srgbClr val="3C78D8"/>
                </a:solidFill>
              </a:endParaRPr>
            </a:p>
            <a:p>
              <a:pPr indent="0" lvl="0" marL="0" rtl="0" algn="ctr">
                <a:spcBef>
                  <a:spcPts val="0"/>
                </a:spcBef>
                <a:spcAft>
                  <a:spcPts val="0"/>
                </a:spcAft>
                <a:buNone/>
              </a:pPr>
              <a:r>
                <a:rPr lang="ja"/>
                <a:t>の増大</a:t>
              </a:r>
              <a:endParaRPr/>
            </a:p>
          </p:txBody>
        </p:sp>
        <p:sp>
          <p:nvSpPr>
            <p:cNvPr id="130" name="Google Shape;130;p23"/>
            <p:cNvSpPr/>
            <p:nvPr/>
          </p:nvSpPr>
          <p:spPr>
            <a:xfrm>
              <a:off x="2628125" y="2703813"/>
              <a:ext cx="1466400" cy="488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管理の強化</a:t>
              </a:r>
              <a:endParaRPr/>
            </a:p>
          </p:txBody>
        </p:sp>
        <p:sp>
          <p:nvSpPr>
            <p:cNvPr id="131" name="Google Shape;131;p23"/>
            <p:cNvSpPr/>
            <p:nvPr/>
          </p:nvSpPr>
          <p:spPr>
            <a:xfrm>
              <a:off x="528775" y="2703813"/>
              <a:ext cx="1466400" cy="488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創造性の低下</a:t>
              </a:r>
              <a:endParaRPr/>
            </a:p>
          </p:txBody>
        </p:sp>
        <p:sp>
          <p:nvSpPr>
            <p:cNvPr id="132" name="Google Shape;132;p23"/>
            <p:cNvSpPr/>
            <p:nvPr/>
          </p:nvSpPr>
          <p:spPr>
            <a:xfrm rot="5400000">
              <a:off x="3114600" y="1958925"/>
              <a:ext cx="744900" cy="7449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3"/>
            <p:cNvSpPr/>
            <p:nvPr/>
          </p:nvSpPr>
          <p:spPr>
            <a:xfrm rot="10800000">
              <a:off x="3114600" y="3299600"/>
              <a:ext cx="744900" cy="7449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3"/>
            <p:cNvSpPr/>
            <p:nvPr/>
          </p:nvSpPr>
          <p:spPr>
            <a:xfrm rot="-5400000">
              <a:off x="701950" y="3246063"/>
              <a:ext cx="744900" cy="7449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3"/>
            <p:cNvSpPr/>
            <p:nvPr/>
          </p:nvSpPr>
          <p:spPr>
            <a:xfrm>
              <a:off x="701950" y="1905388"/>
              <a:ext cx="744900" cy="7449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測定結果の分析、の前に</a:t>
            </a:r>
            <a:endParaRPr/>
          </a:p>
        </p:txBody>
      </p:sp>
      <p:sp>
        <p:nvSpPr>
          <p:cNvPr id="141" name="Google Shape;141;p2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ja" sz="1800"/>
              <a:t>「REAP」</a:t>
            </a:r>
            <a:endParaRPr b="1" sz="1800"/>
          </a:p>
          <a:p>
            <a:pPr indent="0" lvl="0" marL="0" rtl="0" algn="l">
              <a:spcBef>
                <a:spcPts val="1600"/>
              </a:spcBef>
              <a:spcAft>
                <a:spcPts val="0"/>
              </a:spcAft>
              <a:buNone/>
            </a:pPr>
            <a:r>
              <a:t/>
            </a:r>
            <a:endParaRPr b="1" sz="1800"/>
          </a:p>
          <a:p>
            <a:pPr indent="0" lvl="0" marL="0" rtl="0" algn="l">
              <a:spcBef>
                <a:spcPts val="1600"/>
              </a:spcBef>
              <a:spcAft>
                <a:spcPts val="0"/>
              </a:spcAft>
              <a:buNone/>
            </a:pPr>
            <a:r>
              <a:rPr b="1" lang="ja" sz="1800"/>
              <a:t>Remember（思い出す）</a:t>
            </a:r>
            <a:endParaRPr b="1" sz="1800"/>
          </a:p>
          <a:p>
            <a:pPr indent="0" lvl="0" marL="0" rtl="0" algn="l">
              <a:spcBef>
                <a:spcPts val="1600"/>
              </a:spcBef>
              <a:spcAft>
                <a:spcPts val="0"/>
              </a:spcAft>
              <a:buNone/>
            </a:pPr>
            <a:r>
              <a:rPr b="1" lang="ja" sz="1800"/>
              <a:t>Explain（説明してみる）</a:t>
            </a:r>
            <a:endParaRPr b="1" sz="1800"/>
          </a:p>
          <a:p>
            <a:pPr indent="0" lvl="0" marL="0" rtl="0" algn="l">
              <a:spcBef>
                <a:spcPts val="1600"/>
              </a:spcBef>
              <a:spcAft>
                <a:spcPts val="0"/>
              </a:spcAft>
              <a:buNone/>
            </a:pPr>
            <a:r>
              <a:rPr b="1" lang="ja" sz="1800"/>
              <a:t>Ask（尋ねてみる）</a:t>
            </a:r>
            <a:endParaRPr b="1" sz="1800"/>
          </a:p>
          <a:p>
            <a:pPr indent="0" lvl="0" marL="0" rtl="0" algn="l">
              <a:spcBef>
                <a:spcPts val="1600"/>
              </a:spcBef>
              <a:spcAft>
                <a:spcPts val="1600"/>
              </a:spcAft>
              <a:buNone/>
            </a:pPr>
            <a:r>
              <a:rPr b="1" lang="ja" sz="1800"/>
              <a:t>Plan（起きないように考える）</a:t>
            </a:r>
            <a:endParaRPr b="1" sz="1800"/>
          </a:p>
        </p:txBody>
      </p:sp>
      <p:sp>
        <p:nvSpPr>
          <p:cNvPr id="142" name="Google Shape;142;p24"/>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ja" sz="1800"/>
              <a:t>個々</a:t>
            </a:r>
            <a:r>
              <a:rPr b="1" lang="ja" sz="1800"/>
              <a:t>で非難バイアスを生まない</a:t>
            </a:r>
            <a:r>
              <a:rPr lang="ja" sz="1800"/>
              <a:t>方法</a:t>
            </a:r>
            <a:endParaRPr sz="1800"/>
          </a:p>
          <a:p>
            <a:pPr indent="0" lvl="0" marL="0" rtl="0" algn="l">
              <a:spcBef>
                <a:spcPts val="1600"/>
              </a:spcBef>
              <a:spcAft>
                <a:spcPts val="0"/>
              </a:spcAft>
              <a:buNone/>
            </a:pPr>
            <a:r>
              <a:rPr lang="ja"/>
              <a:t>R：「</a:t>
            </a:r>
            <a:r>
              <a:rPr b="1" lang="ja">
                <a:solidFill>
                  <a:srgbClr val="6AA84F"/>
                </a:solidFill>
              </a:rPr>
              <a:t>相手に悪気はない</a:t>
            </a:r>
            <a:r>
              <a:rPr lang="ja"/>
              <a:t>」という言葉を思い出してみる</a:t>
            </a:r>
            <a:endParaRPr/>
          </a:p>
          <a:p>
            <a:pPr indent="0" lvl="0" marL="0" rtl="0" algn="l">
              <a:spcBef>
                <a:spcPts val="1600"/>
              </a:spcBef>
              <a:spcAft>
                <a:spcPts val="0"/>
              </a:spcAft>
              <a:buNone/>
            </a:pPr>
            <a:r>
              <a:rPr lang="ja"/>
              <a:t>E：「</a:t>
            </a:r>
            <a:r>
              <a:rPr b="1" lang="ja">
                <a:solidFill>
                  <a:srgbClr val="6AA84F"/>
                </a:solidFill>
              </a:rPr>
              <a:t>相手がダメじゃないとするなら</a:t>
            </a:r>
            <a:r>
              <a:rPr lang="ja"/>
              <a:t>」何か、可能性を５つ挙げてみる</a:t>
            </a:r>
            <a:endParaRPr/>
          </a:p>
          <a:p>
            <a:pPr indent="0" lvl="0" marL="0" rtl="0" algn="l">
              <a:spcBef>
                <a:spcPts val="1600"/>
              </a:spcBef>
              <a:spcAft>
                <a:spcPts val="0"/>
              </a:spcAft>
              <a:buNone/>
            </a:pPr>
            <a:r>
              <a:rPr lang="ja"/>
              <a:t>A：「</a:t>
            </a:r>
            <a:r>
              <a:rPr b="1" lang="ja">
                <a:solidFill>
                  <a:srgbClr val="6AA84F"/>
                </a:solidFill>
              </a:rPr>
              <a:t>相手に悪気はなかった</a:t>
            </a:r>
            <a:r>
              <a:rPr lang="ja"/>
              <a:t>」前提で見たままの事実とどうしてそうなったかを尋ねてみる</a:t>
            </a:r>
            <a:endParaRPr/>
          </a:p>
          <a:p>
            <a:pPr indent="0" lvl="0" marL="0" rtl="0" algn="l">
              <a:spcBef>
                <a:spcPts val="1600"/>
              </a:spcBef>
              <a:spcAft>
                <a:spcPts val="1600"/>
              </a:spcAft>
              <a:buClr>
                <a:schemeClr val="dk1"/>
              </a:buClr>
              <a:buSzPts val="1100"/>
              <a:buFont typeface="Arial"/>
              <a:buNone/>
            </a:pPr>
            <a:r>
              <a:rPr lang="ja"/>
              <a:t>P：</a:t>
            </a:r>
            <a:r>
              <a:rPr b="1" lang="ja">
                <a:solidFill>
                  <a:srgbClr val="6AA84F"/>
                </a:solidFill>
              </a:rPr>
              <a:t>未然に防ぐ</a:t>
            </a:r>
            <a:r>
              <a:rPr lang="ja"/>
              <a:t>計画を立ててみる</a:t>
            </a:r>
            <a:br>
              <a:rPr lang="ja"/>
            </a:br>
            <a:r>
              <a:rPr lang="ja"/>
              <a:t>たいがい自分の改善点が含まれることになる</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ja"/>
              <a:t>測定結果の分析</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測定結果の分析</a:t>
            </a:r>
            <a:endParaRPr/>
          </a:p>
        </p:txBody>
      </p:sp>
      <p:sp>
        <p:nvSpPr>
          <p:cNvPr id="153" name="Google Shape;153;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今回集計結果内の</a:t>
            </a:r>
            <a:r>
              <a:rPr b="1" lang="ja">
                <a:solidFill>
                  <a:srgbClr val="6AA84F"/>
                </a:solidFill>
              </a:rPr>
              <a:t>各人を比較</a:t>
            </a:r>
            <a:r>
              <a:rPr lang="ja"/>
              <a:t>して、または</a:t>
            </a:r>
            <a:r>
              <a:rPr b="1" lang="ja">
                <a:solidFill>
                  <a:srgbClr val="6AA84F"/>
                </a:solidFill>
              </a:rPr>
              <a:t>前回</a:t>
            </a:r>
            <a:r>
              <a:rPr lang="ja">
                <a:solidFill>
                  <a:srgbClr val="000000"/>
                </a:solidFill>
              </a:rPr>
              <a:t>集計結果</a:t>
            </a:r>
            <a:r>
              <a:rPr b="1" lang="ja">
                <a:solidFill>
                  <a:srgbClr val="6AA84F"/>
                </a:solidFill>
              </a:rPr>
              <a:t>と比較</a:t>
            </a:r>
            <a:r>
              <a:rPr lang="ja"/>
              <a:t>して、</a:t>
            </a:r>
            <a:br>
              <a:rPr lang="ja"/>
            </a:br>
            <a:r>
              <a:rPr lang="ja"/>
              <a:t>各自で感じた／気づいたことを</a:t>
            </a:r>
            <a:r>
              <a:rPr b="1" lang="ja">
                <a:solidFill>
                  <a:srgbClr val="6AA84F"/>
                </a:solidFill>
              </a:rPr>
              <a:t>ふせんに書き</a:t>
            </a:r>
            <a:r>
              <a:rPr lang="ja"/>
              <a:t>出し、ラウンドロビンに発表します</a:t>
            </a:r>
            <a:endParaRPr/>
          </a:p>
          <a:p>
            <a:pPr indent="0" lvl="0" marL="0" rtl="0" algn="l">
              <a:spcBef>
                <a:spcPts val="1600"/>
              </a:spcBef>
              <a:spcAft>
                <a:spcPts val="0"/>
              </a:spcAft>
              <a:buNone/>
            </a:pPr>
            <a:r>
              <a:rPr lang="ja"/>
              <a:t>発表された気づきを</a:t>
            </a:r>
            <a:r>
              <a:rPr b="1" lang="ja">
                <a:solidFill>
                  <a:srgbClr val="6AA84F"/>
                </a:solidFill>
              </a:rPr>
              <a:t>リグルーピング＆ラベリング</a:t>
            </a:r>
            <a:r>
              <a:rPr lang="ja"/>
              <a:t>をします</a:t>
            </a:r>
            <a:endParaRPr/>
          </a:p>
          <a:p>
            <a:pPr indent="0" lvl="0" marL="0" rtl="0" algn="l">
              <a:spcBef>
                <a:spcPts val="1600"/>
              </a:spcBef>
              <a:spcAft>
                <a:spcPts val="0"/>
              </a:spcAft>
              <a:buNone/>
            </a:pPr>
            <a:r>
              <a:rPr lang="ja"/>
              <a:t>ラベリングされた</a:t>
            </a:r>
            <a:r>
              <a:rPr b="1" lang="ja">
                <a:solidFill>
                  <a:srgbClr val="6AA84F"/>
                </a:solidFill>
              </a:rPr>
              <a:t>パターン</a:t>
            </a:r>
            <a:r>
              <a:rPr lang="ja"/>
              <a:t>や変化として現れた</a:t>
            </a:r>
            <a:r>
              <a:rPr b="1" lang="ja">
                <a:solidFill>
                  <a:srgbClr val="6AA84F"/>
                </a:solidFill>
              </a:rPr>
              <a:t>シフト</a:t>
            </a:r>
            <a:r>
              <a:rPr lang="ja"/>
              <a:t>が</a:t>
            </a:r>
            <a:r>
              <a:rPr b="1" lang="ja">
                <a:solidFill>
                  <a:srgbClr val="A64D79"/>
                </a:solidFill>
              </a:rPr>
              <a:t>なぜ発生したか</a:t>
            </a:r>
            <a:r>
              <a:rPr lang="ja"/>
              <a:t>、を議論します（</a:t>
            </a:r>
            <a:r>
              <a:rPr b="1" lang="ja" u="sng">
                <a:solidFill>
                  <a:srgbClr val="A64D79"/>
                </a:solidFill>
              </a:rPr>
              <a:t>非難バイアス</a:t>
            </a:r>
            <a:r>
              <a:rPr lang="ja"/>
              <a:t>の有無も考慮して）</a:t>
            </a:r>
            <a:endParaRPr/>
          </a:p>
          <a:p>
            <a:pPr indent="0" lvl="0" marL="0" rtl="0" algn="l">
              <a:spcBef>
                <a:spcPts val="1600"/>
              </a:spcBef>
              <a:spcAft>
                <a:spcPts val="1600"/>
              </a:spcAft>
              <a:buNone/>
            </a:pPr>
            <a:r>
              <a:rPr lang="ja"/>
              <a:t>気になる・関心があるパターンとシフトに</a:t>
            </a:r>
            <a:r>
              <a:rPr b="1" lang="ja">
                <a:solidFill>
                  <a:srgbClr val="6AA84F"/>
                </a:solidFill>
              </a:rPr>
              <a:t>ドット投票（ネガポジ）</a:t>
            </a:r>
            <a:r>
              <a:rPr lang="ja"/>
              <a:t>をします</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ja"/>
              <a:t>改善の鍵の探索</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改善の鍵の探索</a:t>
            </a:r>
            <a:endParaRPr/>
          </a:p>
        </p:txBody>
      </p:sp>
      <p:sp>
        <p:nvSpPr>
          <p:cNvPr id="164" name="Google Shape;164;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プラスを増やすには、マイナスを減らすには、</a:t>
            </a:r>
            <a:r>
              <a:rPr b="1" lang="ja">
                <a:solidFill>
                  <a:srgbClr val="A64D79"/>
                </a:solidFill>
              </a:rPr>
              <a:t>どんなアプローチ</a:t>
            </a:r>
            <a:r>
              <a:rPr lang="ja"/>
              <a:t>が考えられるかアイディアを出します</a:t>
            </a:r>
            <a:endParaRPr/>
          </a:p>
          <a:p>
            <a:pPr indent="0" lvl="0" marL="0" rtl="0" algn="l">
              <a:spcBef>
                <a:spcPts val="1600"/>
              </a:spcBef>
              <a:spcAft>
                <a:spcPts val="0"/>
              </a:spcAft>
              <a:buNone/>
            </a:pPr>
            <a:r>
              <a:rPr lang="ja"/>
              <a:t>また、どのような状態に到達するか／したいかを議論し、アイディアを出します</a:t>
            </a:r>
            <a:endParaRPr/>
          </a:p>
          <a:p>
            <a:pPr indent="0" lvl="0" marL="0" rtl="0" algn="l">
              <a:spcBef>
                <a:spcPts val="1600"/>
              </a:spcBef>
              <a:spcAft>
                <a:spcPts val="1600"/>
              </a:spcAft>
              <a:buNone/>
            </a:pPr>
            <a:r>
              <a:rPr lang="ja" u="sng"/>
              <a:t>REAP</a:t>
            </a:r>
            <a:r>
              <a:rPr lang="ja"/>
              <a:t>も意識してみてください</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ja"/>
              <a:t>ゴールを決める</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ゴールを決める</a:t>
            </a:r>
            <a:endParaRPr/>
          </a:p>
        </p:txBody>
      </p:sp>
      <p:sp>
        <p:nvSpPr>
          <p:cNvPr id="175" name="Google Shape;175;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ja"/>
              <a:t>前述のアイディアから</a:t>
            </a:r>
            <a:r>
              <a:rPr lang="ja"/>
              <a:t>SMART目標を決めます</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ja"/>
              <a:t>おわり</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ja"/>
              <a:t>Appendix</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sz="1350">
                <a:solidFill>
                  <a:srgbClr val="222222"/>
                </a:solidFill>
                <a:highlight>
                  <a:srgbClr val="FFFFFF"/>
                </a:highlight>
              </a:rPr>
              <a:t>何がToMo指数の改善につながるかの仮説を洗い出していく。</a:t>
            </a:r>
            <a:endParaRPr sz="1350">
              <a:solidFill>
                <a:srgbClr val="222222"/>
              </a:solidFill>
              <a:highlight>
                <a:srgbClr val="FFFFFF"/>
              </a:highlight>
            </a:endParaRPr>
          </a:p>
          <a:p>
            <a:pPr indent="0" lvl="0" marL="0" rtl="0" algn="l">
              <a:spcBef>
                <a:spcPts val="1600"/>
              </a:spcBef>
              <a:spcAft>
                <a:spcPts val="0"/>
              </a:spcAft>
              <a:buClr>
                <a:schemeClr val="dk1"/>
              </a:buClr>
              <a:buSzPts val="1100"/>
              <a:buFont typeface="Arial"/>
              <a:buNone/>
            </a:pPr>
            <a:r>
              <a:rPr lang="ja" sz="1350">
                <a:solidFill>
                  <a:srgbClr val="222222"/>
                </a:solidFill>
                <a:highlight>
                  <a:srgbClr val="FFFFFF"/>
                </a:highlight>
              </a:rPr>
              <a:t>具体的には、</a:t>
            </a:r>
            <a:endParaRPr sz="1350">
              <a:solidFill>
                <a:srgbClr val="222222"/>
              </a:solidFill>
              <a:highlight>
                <a:srgbClr val="FFFFFF"/>
              </a:highlight>
            </a:endParaRPr>
          </a:p>
          <a:p>
            <a:pPr indent="0" lvl="0" marL="0" rtl="0" algn="l">
              <a:spcBef>
                <a:spcPts val="1600"/>
              </a:spcBef>
              <a:spcAft>
                <a:spcPts val="0"/>
              </a:spcAft>
              <a:buClr>
                <a:schemeClr val="dk1"/>
              </a:buClr>
              <a:buSzPts val="1100"/>
              <a:buFont typeface="Arial"/>
              <a:buNone/>
            </a:pPr>
            <a:r>
              <a:rPr lang="ja" sz="1350">
                <a:solidFill>
                  <a:srgbClr val="222222"/>
                </a:solidFill>
                <a:highlight>
                  <a:srgbClr val="FFFFFF"/>
                </a:highlight>
              </a:rPr>
              <a:t>ー職種や社歴、仕事内容別に、「感情的圧力」「経済的圧力」にばらつきがないかを確認する</a:t>
            </a:r>
            <a:endParaRPr sz="1350">
              <a:solidFill>
                <a:srgbClr val="222222"/>
              </a:solidFill>
              <a:highlight>
                <a:srgbClr val="FFFFFF"/>
              </a:highlight>
            </a:endParaRPr>
          </a:p>
          <a:p>
            <a:pPr indent="0" lvl="0" marL="0" rtl="0" algn="l">
              <a:spcBef>
                <a:spcPts val="1600"/>
              </a:spcBef>
              <a:spcAft>
                <a:spcPts val="0"/>
              </a:spcAft>
              <a:buClr>
                <a:schemeClr val="dk1"/>
              </a:buClr>
              <a:buSzPts val="1100"/>
              <a:buFont typeface="Arial"/>
              <a:buNone/>
            </a:pPr>
            <a:r>
              <a:rPr lang="ja" sz="1350">
                <a:solidFill>
                  <a:srgbClr val="222222"/>
                </a:solidFill>
                <a:highlight>
                  <a:srgbClr val="FFFFFF"/>
                </a:highlight>
              </a:rPr>
              <a:t>ー顧客までの距離と、「仕事そのものの楽しさ」の関係に大きな関連がないかを確認する</a:t>
            </a:r>
            <a:endParaRPr sz="1350">
              <a:solidFill>
                <a:srgbClr val="222222"/>
              </a:solidFill>
              <a:highlight>
                <a:srgbClr val="FFFFFF"/>
              </a:highlight>
            </a:endParaRPr>
          </a:p>
          <a:p>
            <a:pPr indent="0" lvl="0" marL="0" rtl="0" algn="l">
              <a:spcBef>
                <a:spcPts val="1600"/>
              </a:spcBef>
              <a:spcAft>
                <a:spcPts val="1600"/>
              </a:spcAft>
              <a:buNone/>
            </a:pPr>
            <a:r>
              <a:rPr lang="ja" sz="1350">
                <a:solidFill>
                  <a:srgbClr val="222222"/>
                </a:solidFill>
                <a:highlight>
                  <a:srgbClr val="FFFFFF"/>
                </a:highlight>
              </a:rPr>
              <a:t>ー新人とベテランの間での、ToMo指数の変化を確認する</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鍵</a:t>
            </a:r>
            <a:r>
              <a:rPr lang="ja"/>
              <a:t>の候補</a:t>
            </a:r>
            <a:endParaRPr/>
          </a:p>
        </p:txBody>
      </p:sp>
      <p:sp>
        <p:nvSpPr>
          <p:cNvPr id="197" name="Google Shape;197;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ja" sz="1350">
                <a:solidFill>
                  <a:srgbClr val="222222"/>
                </a:solidFill>
                <a:highlight>
                  <a:srgbClr val="FFFFFF"/>
                </a:highlight>
              </a:rPr>
              <a:t>主な鍵の候補は、以下の通りです：</a:t>
            </a:r>
            <a:endParaRPr sz="1350">
              <a:solidFill>
                <a:srgbClr val="222222"/>
              </a:solidFill>
              <a:highlight>
                <a:srgbClr val="FFFFFF"/>
              </a:highlight>
            </a:endParaRPr>
          </a:p>
          <a:p>
            <a:pPr indent="0" lvl="0" marL="0" rtl="0" algn="l">
              <a:spcBef>
                <a:spcPts val="1600"/>
              </a:spcBef>
              <a:spcAft>
                <a:spcPts val="0"/>
              </a:spcAft>
              <a:buClr>
                <a:schemeClr val="dk1"/>
              </a:buClr>
              <a:buSzPts val="1100"/>
              <a:buFont typeface="Arial"/>
              <a:buNone/>
            </a:pPr>
            <a:r>
              <a:rPr lang="ja" sz="1350">
                <a:solidFill>
                  <a:srgbClr val="222222"/>
                </a:solidFill>
                <a:highlight>
                  <a:srgbClr val="FFFFFF"/>
                </a:highlight>
              </a:rPr>
              <a:t>ーリーダーシップ（管理職、リーダーが適切な行動をしているか？）</a:t>
            </a:r>
            <a:endParaRPr sz="1350">
              <a:solidFill>
                <a:srgbClr val="222222"/>
              </a:solidFill>
              <a:highlight>
                <a:srgbClr val="FFFFFF"/>
              </a:highlight>
            </a:endParaRPr>
          </a:p>
          <a:p>
            <a:pPr indent="0" lvl="0" marL="0" rtl="0" algn="l">
              <a:spcBef>
                <a:spcPts val="1600"/>
              </a:spcBef>
              <a:spcAft>
                <a:spcPts val="0"/>
              </a:spcAft>
              <a:buClr>
                <a:schemeClr val="dk1"/>
              </a:buClr>
              <a:buSzPts val="1100"/>
              <a:buFont typeface="Arial"/>
              <a:buNone/>
            </a:pPr>
            <a:r>
              <a:rPr lang="ja" sz="1350">
                <a:solidFill>
                  <a:srgbClr val="222222"/>
                </a:solidFill>
                <a:highlight>
                  <a:srgbClr val="FFFFFF"/>
                </a:highlight>
              </a:rPr>
              <a:t>ー独自性（企業としての使命、仕事が生み出すものは明確か？）</a:t>
            </a:r>
            <a:endParaRPr sz="1350">
              <a:solidFill>
                <a:srgbClr val="222222"/>
              </a:solidFill>
              <a:highlight>
                <a:srgbClr val="FFFFFF"/>
              </a:highlight>
            </a:endParaRPr>
          </a:p>
          <a:p>
            <a:pPr indent="0" lvl="0" marL="0" rtl="0" algn="l">
              <a:spcBef>
                <a:spcPts val="1600"/>
              </a:spcBef>
              <a:spcAft>
                <a:spcPts val="0"/>
              </a:spcAft>
              <a:buClr>
                <a:schemeClr val="dk1"/>
              </a:buClr>
              <a:buSzPts val="1100"/>
              <a:buFont typeface="Arial"/>
              <a:buNone/>
            </a:pPr>
            <a:r>
              <a:rPr lang="ja" sz="1350">
                <a:solidFill>
                  <a:srgbClr val="222222"/>
                </a:solidFill>
                <a:highlight>
                  <a:srgbClr val="FFFFFF"/>
                </a:highlight>
              </a:rPr>
              <a:t>ー役割設計（ガチガチに役割が決まり、創造性の発揮を妨げていないか？）</a:t>
            </a:r>
            <a:endParaRPr sz="1350">
              <a:solidFill>
                <a:srgbClr val="222222"/>
              </a:solidFill>
              <a:highlight>
                <a:srgbClr val="FFFFFF"/>
              </a:highlight>
            </a:endParaRPr>
          </a:p>
          <a:p>
            <a:pPr indent="0" lvl="0" marL="0" rtl="0" algn="l">
              <a:spcBef>
                <a:spcPts val="1600"/>
              </a:spcBef>
              <a:spcAft>
                <a:spcPts val="0"/>
              </a:spcAft>
              <a:buClr>
                <a:schemeClr val="dk1"/>
              </a:buClr>
              <a:buSzPts val="1100"/>
              <a:buFont typeface="Arial"/>
              <a:buNone/>
            </a:pPr>
            <a:r>
              <a:rPr lang="ja" sz="1350">
                <a:solidFill>
                  <a:srgbClr val="222222"/>
                </a:solidFill>
                <a:highlight>
                  <a:srgbClr val="FFFFFF"/>
                </a:highlight>
              </a:rPr>
              <a:t>ー昇進の道（強者だけが生き残る、感情圧力が強すぎるものでないか？）</a:t>
            </a:r>
            <a:endParaRPr sz="1350">
              <a:solidFill>
                <a:srgbClr val="222222"/>
              </a:solidFill>
              <a:highlight>
                <a:srgbClr val="FFFFFF"/>
              </a:highlight>
            </a:endParaRPr>
          </a:p>
          <a:p>
            <a:pPr indent="0" lvl="0" marL="0" rtl="0" algn="l">
              <a:spcBef>
                <a:spcPts val="1600"/>
              </a:spcBef>
              <a:spcAft>
                <a:spcPts val="0"/>
              </a:spcAft>
              <a:buClr>
                <a:schemeClr val="dk1"/>
              </a:buClr>
              <a:buSzPts val="1100"/>
              <a:buFont typeface="Arial"/>
              <a:buNone/>
            </a:pPr>
            <a:r>
              <a:rPr lang="ja" sz="1350">
                <a:solidFill>
                  <a:srgbClr val="222222"/>
                </a:solidFill>
                <a:highlight>
                  <a:srgbClr val="FFFFFF"/>
                </a:highlight>
              </a:rPr>
              <a:t>ー報酬（経済的圧力の問題を引き起こすようになっていないか？）</a:t>
            </a:r>
            <a:endParaRPr sz="1350">
              <a:solidFill>
                <a:srgbClr val="222222"/>
              </a:solidFill>
              <a:highlight>
                <a:srgbClr val="FFFFFF"/>
              </a:highlight>
            </a:endParaRPr>
          </a:p>
          <a:p>
            <a:pPr indent="0" lvl="0" marL="0" rtl="0" algn="l">
              <a:spcBef>
                <a:spcPts val="1600"/>
              </a:spcBef>
              <a:spcAft>
                <a:spcPts val="0"/>
              </a:spcAft>
              <a:buClr>
                <a:schemeClr val="dk1"/>
              </a:buClr>
              <a:buSzPts val="1100"/>
              <a:buFont typeface="Arial"/>
              <a:buNone/>
            </a:pPr>
            <a:r>
              <a:rPr lang="ja" sz="1350">
                <a:solidFill>
                  <a:srgbClr val="222222"/>
                </a:solidFill>
                <a:highlight>
                  <a:srgbClr val="FFFFFF"/>
                </a:highlight>
              </a:rPr>
              <a:t>ーコミュニティー（感情的圧力を和らげる機構はあるか？）</a:t>
            </a:r>
            <a:endParaRPr sz="1350">
              <a:solidFill>
                <a:srgbClr val="222222"/>
              </a:solidFill>
              <a:highlight>
                <a:srgbClr val="FFFFFF"/>
              </a:highlight>
            </a:endParaRPr>
          </a:p>
          <a:p>
            <a:pPr indent="0" lvl="0" marL="0" rtl="0" algn="l">
              <a:spcBef>
                <a:spcPts val="1600"/>
              </a:spcBef>
              <a:spcAft>
                <a:spcPts val="1600"/>
              </a:spcAft>
              <a:buNone/>
            </a:pPr>
            <a:r>
              <a:rPr lang="ja" sz="1350">
                <a:solidFill>
                  <a:srgbClr val="222222"/>
                </a:solidFill>
                <a:highlight>
                  <a:srgbClr val="FFFFFF"/>
                </a:highlight>
              </a:rPr>
              <a:t>ー業績管理（結果指標とToMo指標をバランスよく測定しているか？）</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